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213e0e8a784f82" /><Relationship Type="http://schemas.openxmlformats.org/officeDocument/2006/relationships/extended-properties" Target="/docProps/app.xml" Id="Re28a3979d7a44f15" /><Relationship Type="http://schemas.openxmlformats.org/officeDocument/2006/relationships/officeDocument" Target="/ppt/presentation.xml" Id="R615e2bd90d6945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0b51e388224eb3"/>
  </p:sldMasterIdLst>
  <p:notesMasterIdLst>
    <p:notesMasterId xmlns:r="http://schemas.openxmlformats.org/officeDocument/2006/relationships" r:id="Rc3a591e14bdb4a27"/>
  </p:notesMasterIdLst>
  <p:sldIdLst>
    <p:sldId xmlns:r="http://schemas.openxmlformats.org/officeDocument/2006/relationships" id="256" r:id="R20d2d9ecd8664a2a"/>
    <p:sldId xmlns:r="http://schemas.openxmlformats.org/officeDocument/2006/relationships" id="257" r:id="Rdef7008d069044fd"/>
    <p:sldId xmlns:r="http://schemas.openxmlformats.org/officeDocument/2006/relationships" id="258" r:id="Rb3d2d993756a47e8"/>
    <p:sldId xmlns:r="http://schemas.openxmlformats.org/officeDocument/2006/relationships" id="259" r:id="R18d07f46ff0d447d"/>
    <p:sldId xmlns:r="http://schemas.openxmlformats.org/officeDocument/2006/relationships" id="260" r:id="R8294a7564dc1453e"/>
    <p:sldId xmlns:r="http://schemas.openxmlformats.org/officeDocument/2006/relationships" id="261" r:id="R7966b2ca4538495e"/>
    <p:sldId xmlns:r="http://schemas.openxmlformats.org/officeDocument/2006/relationships" id="262" r:id="R76f4fb5017c047c2"/>
    <p:sldId xmlns:r="http://schemas.openxmlformats.org/officeDocument/2006/relationships" id="263" r:id="R0a072f39fda14fe3"/>
    <p:sldId xmlns:r="http://schemas.openxmlformats.org/officeDocument/2006/relationships" id="264" r:id="R7be3c8b1a5e14ce1"/>
    <p:sldId xmlns:r="http://schemas.openxmlformats.org/officeDocument/2006/relationships" id="265" r:id="R7ffad7fa908145e2"/>
    <p:sldId xmlns:r="http://schemas.openxmlformats.org/officeDocument/2006/relationships" id="266" r:id="R4e2e814b77c84557"/>
    <p:sldId xmlns:r="http://schemas.openxmlformats.org/officeDocument/2006/relationships" id="267" r:id="Ra0ce2110cf5d486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b51e388224eb3" /><Relationship Type="http://schemas.openxmlformats.org/officeDocument/2006/relationships/theme" Target="/ppt/theme/theme1.xml" Id="R50267db45ba44ffd" /><Relationship Type="http://schemas.openxmlformats.org/officeDocument/2006/relationships/notesMaster" Target="/ppt/notesMasters/notesMaster1.xml" Id="Rc3a591e14bdb4a27" /><Relationship Type="http://schemas.openxmlformats.org/officeDocument/2006/relationships/presProps" Target="/ppt/presProps.xml" Id="R435ba37cc53540ba" /><Relationship Type="http://schemas.openxmlformats.org/officeDocument/2006/relationships/viewProps" Target="/ppt/viewProps.xml" Id="R53510bf5edfd4e4b" /><Relationship Type="http://schemas.openxmlformats.org/officeDocument/2006/relationships/tableStyles" Target="/ppt/tableStyles.xml" Id="R5fe0e6b3bf844c10" /><Relationship Type="http://schemas.openxmlformats.org/officeDocument/2006/relationships/slide" Target="/ppt/slides/slide1.xml" Id="R20d2d9ecd8664a2a" /><Relationship Type="http://schemas.openxmlformats.org/officeDocument/2006/relationships/slide" Target="/ppt/slides/slide2.xml" Id="Rdef7008d069044fd" /><Relationship Type="http://schemas.openxmlformats.org/officeDocument/2006/relationships/slide" Target="/ppt/slides/slide3.xml" Id="Rb3d2d993756a47e8" /><Relationship Type="http://schemas.openxmlformats.org/officeDocument/2006/relationships/slide" Target="/ppt/slides/slide4.xml" Id="R18d07f46ff0d447d" /><Relationship Type="http://schemas.openxmlformats.org/officeDocument/2006/relationships/slide" Target="/ppt/slides/slide5.xml" Id="R8294a7564dc1453e" /><Relationship Type="http://schemas.openxmlformats.org/officeDocument/2006/relationships/slide" Target="/ppt/slides/slide6.xml" Id="R7966b2ca4538495e" /><Relationship Type="http://schemas.openxmlformats.org/officeDocument/2006/relationships/slide" Target="/ppt/slides/slide7.xml" Id="R76f4fb5017c047c2" /><Relationship Type="http://schemas.openxmlformats.org/officeDocument/2006/relationships/slide" Target="/ppt/slides/slide8.xml" Id="R0a072f39fda14fe3" /><Relationship Type="http://schemas.openxmlformats.org/officeDocument/2006/relationships/slide" Target="/ppt/slides/slide9.xml" Id="R7be3c8b1a5e14ce1" /><Relationship Type="http://schemas.openxmlformats.org/officeDocument/2006/relationships/slide" Target="/ppt/slides/slide10.xml" Id="R7ffad7fa908145e2" /><Relationship Type="http://schemas.openxmlformats.org/officeDocument/2006/relationships/slide" Target="/ppt/slides/slide11.xml" Id="R4e2e814b77c84557" /><Relationship Type="http://schemas.openxmlformats.org/officeDocument/2006/relationships/slide" Target="/ppt/slides/slide12.xml" Id="Ra0ce2110cf5d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e12f1c80aa7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f89ef2fb7c548b7" /><Relationship Type="http://schemas.openxmlformats.org/officeDocument/2006/relationships/notesMaster" Target="/ppt/notesMasters/notesMaster1.xml" Id="R6328f266e3174c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7e10632b8c42b2" /><Relationship Type="http://schemas.openxmlformats.org/officeDocument/2006/relationships/notesMaster" Target="/ppt/notesMasters/notesMaster1.xml" Id="R39fd61481dcc43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f97882674f4162" /><Relationship Type="http://schemas.openxmlformats.org/officeDocument/2006/relationships/notesMaster" Target="/ppt/notesMasters/notesMaster1.xml" Id="Rb4ee0499da2b4f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9e6178342143bf" /><Relationship Type="http://schemas.openxmlformats.org/officeDocument/2006/relationships/notesMaster" Target="/ppt/notesMasters/notesMaster1.xml" Id="R7da7580d1cc1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e1bf907a5042a5" /><Relationship Type="http://schemas.openxmlformats.org/officeDocument/2006/relationships/notesMaster" Target="/ppt/notesMasters/notesMaster1.xml" Id="R3d322ed8e6a4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e2ccd7048c41eb" /><Relationship Type="http://schemas.openxmlformats.org/officeDocument/2006/relationships/notesMaster" Target="/ppt/notesMasters/notesMaster1.xml" Id="R5d8c940fcca94e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dc727341d574a78" /><Relationship Type="http://schemas.openxmlformats.org/officeDocument/2006/relationships/notesMaster" Target="/ppt/notesMasters/notesMaster1.xml" Id="R0bcfaf7eeab745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5e80a3b614aed" /><Relationship Type="http://schemas.openxmlformats.org/officeDocument/2006/relationships/notesMaster" Target="/ppt/notesMasters/notesMaster1.xml" Id="Rffbb848a674e4b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39c4b820eb40fe" /><Relationship Type="http://schemas.openxmlformats.org/officeDocument/2006/relationships/notesMaster" Target="/ppt/notesMasters/notesMaster1.xml" Id="R7450cf2f69ce4e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b3d071a75c44ed" /><Relationship Type="http://schemas.openxmlformats.org/officeDocument/2006/relationships/notesMaster" Target="/ppt/notesMasters/notesMaster1.xml" Id="R078ab1b13f6840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41449b801648d2" /><Relationship Type="http://schemas.openxmlformats.org/officeDocument/2006/relationships/notesMaster" Target="/ppt/notesMasters/notesMaster1.xml" Id="R9f903b0f236a4a1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87f182d66a4519" /><Relationship Type="http://schemas.openxmlformats.org/officeDocument/2006/relationships/notesMaster" Target="/ppt/notesMasters/notesMaster1.xml" Id="Rd12e2d8da4ca48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a430dbd004bc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b73c5a424f247a5" /><Relationship Type="http://schemas.openxmlformats.org/officeDocument/2006/relationships/slideLayout" Target="/ppt/slideLayouts/slideLayout2.xml" Id="R8ff848497aef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f848497aef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0f28ff584d4a93" /><Relationship Type="http://schemas.openxmlformats.org/officeDocument/2006/relationships/notesSlide" Target="/ppt/notesSlides/notesSlide1.xml" Id="R36b0b30d752c44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479ab8baba4715" /><Relationship Type="http://schemas.openxmlformats.org/officeDocument/2006/relationships/notesSlide" Target="/ppt/notesSlides/notesSlide2.xml" Id="Rda8de805c4074e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f1c9aee0334199" /><Relationship Type="http://schemas.openxmlformats.org/officeDocument/2006/relationships/notesSlide" Target="/ppt/notesSlides/notesSlide3.xml" Id="R1ed8968f5b87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7a43295ad04db1" /><Relationship Type="http://schemas.openxmlformats.org/officeDocument/2006/relationships/notesSlide" Target="/ppt/notesSlides/notesSlide4.xml" Id="Rfcf50881da5749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a5e05c9082482e" /><Relationship Type="http://schemas.openxmlformats.org/officeDocument/2006/relationships/notesSlide" Target="/ppt/notesSlides/notesSlide5.xml" Id="Rb69b9af409e9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dcd87b7664ae6" /><Relationship Type="http://schemas.openxmlformats.org/officeDocument/2006/relationships/notesSlide" Target="/ppt/notesSlides/notesSlide6.xml" Id="R5258647fc81a47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5530ea319349d9" /><Relationship Type="http://schemas.openxmlformats.org/officeDocument/2006/relationships/notesSlide" Target="/ppt/notesSlides/notesSlide7.xml" Id="Re1fb26b8018144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799109d494eff" /><Relationship Type="http://schemas.openxmlformats.org/officeDocument/2006/relationships/notesSlide" Target="/ppt/notesSlides/notesSlide8.xml" Id="R896a4f96325448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dde88281c4de1" /><Relationship Type="http://schemas.openxmlformats.org/officeDocument/2006/relationships/notesSlide" Target="/ppt/notesSlides/notesSlide9.xml" Id="R1564b9bef6f849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9be6c0c664262" /><Relationship Type="http://schemas.openxmlformats.org/officeDocument/2006/relationships/notesSlide" Target="/ppt/notesSlides/notesSlide10.xml" Id="R0397d746ad7b4d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577d00b56c46fa" /><Relationship Type="http://schemas.openxmlformats.org/officeDocument/2006/relationships/notesSlide" Target="/ppt/notesSlides/notesSlide11.xml" Id="R57ff9399d7bd4d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887b953d2453d" /><Relationship Type="http://schemas.openxmlformats.org/officeDocument/2006/relationships/notesSlide" Target="/ppt/notesSlides/notesSlide12.xml" Id="R6c3aeffc2db94a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8FC06-61FA-4BA1-98CA-1F7E07D6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E27AA-87D0-4B9C-BDE5-A7E4F2E8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2EF2B-6226-4132-8B3F-15ED15B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0"/>
            <a:ext cx="37909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3AFF1-31A3-439B-B71A-2F8D0B64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4770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7EBA9-F82C-49D5-A662-97E0484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1912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297DFC-6C0E-49E4-A121-DC402F9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393E0F3-7D4A-48CC-97C0-14FD6E3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A G E N T   F O U N D A T I O N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4CD8B-8764-4EBA-955F-6796F77A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72390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Agent 不是模型的别名，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而是一套控制循环。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78547-8F5D-48D6-9090-4A974033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28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从概念、ReAct 主循环、Plan-and-Execute 到工程约束，拆开一个简化版 Claude Code 的底层节奏。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C93EB8-A5EB-4C2C-BA87-E4F0107C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B39"/>
          </a:solidFill>
          <a:ln xmlns:a="http://schemas.openxmlformats.org/drawingml/2006/main" w="9525">
            <a:solidFill>
              <a:srgbClr val="3A485A"/>
            </a:solidFill>
            <a:prstDash val="solid"/>
          </a:ln>
        </p:spPr>
        <p:txBody>
          <a:bodyPr xmlns:a="http://schemas.openxmlformats.org/drawingml/2006/main" lIns="171450" tIns="114300" rIns="171450" bIns="952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Agent = LLM + Tools + Control Loop +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665656-D773-40CE-B1AE-0342FE94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D443BF-2931-42E9-8ACC-DA966EB2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2BB890-6194-404E-81B0-8274ADC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核心部件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321E6-1C13-4BA1-8A5C-8F26B209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181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D815E-3153-488C-8599-A71A3BA8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B5314-D792-4892-A046-C10240E2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00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构建模式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C9A4D-0E78-4281-B374-E0A7D333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A26743-30A4-4A21-8A3B-55B970F3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197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15168-8326-49D9-9D6B-076C926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00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675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工程约束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886B5-65EB-473F-9256-2D38FFB1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525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2FA7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2E45C-5449-4C1E-9EC8-9E1B3CC0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3525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86D2F6-6154-4AB8-A85F-2A873BC5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8D57C3-CA72-44CC-BE52-00B14E4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判断下一步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9A82C-84B8-4608-AF9B-F8D7460E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76D01-B7AC-42BD-8A76-D55CF864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144E23-9F43-4052-94BE-A69F6FDB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289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PROGRAM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D9A59-478D-4F0D-A173-70C527A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维护状态并执行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D7956-1464-43EE-BD05-A6481C4F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75F82-3F3A-43BF-A9F8-C708A64C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1DC5AF-F198-48FE-A6EC-392D4BFC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35C56-D107-4617-8364-BF9FA169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读写运行搜索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96F955-8DF5-416D-B13A-5EEB2A20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228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EC6C37-7B1F-4046-BE66-C73D93A6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244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53876-CB2D-4809-A0C7-9AC63B32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2C49E3-6719-4580-B790-EDB2EDC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1244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把结果喂回模型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CF5EC0-DB9E-4EAC-81F3-069D66A7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06680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8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005980-7B55-4AB7-ADC7-C036473E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721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基于本地学习笔记 · 2026-05-09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149B13-FAE3-4D29-BA71-0B6BD001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69A27A-D458-4FE1-9062-E5153FA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rPr>
              <a:t>Source: Agent 的概念、原理与构建模式：从零打造一个简化版的 Claude Code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D2B9F-3384-4E7C-A49A-6FC12A7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73242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FAE916-49BE-4EA2-936F-08269EAF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C23FA6F-DE4D-4E01-A26C-4621A577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98F9A36-49E6-4968-B6F4-1D1E4259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C O R E   M O D E 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DF6C-A5BE-4CCF-AE73-8245CFC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4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模型缺的是外部输入输出通道，Agent 主程序补上这层连接。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AB044-9153-438A-8865-AAFAED70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57350"/>
            <a:ext cx="771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大模型负责生成下一步请求；真正读文件、写文件、运行命令、调用 API 的，是 Agent 主程序和工具层。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F2EE7-077E-4001-B3E6-F0EB3E3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382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320B-376A-45CE-8F19-C27F4574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209800"/>
            <a:ext cx="190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6FD59-2D9A-4749-8E21-3E83E3C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模型世界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5216B-EDDA-48E7-BAB3-787AE730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09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外部世界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16B09-3AD5-46A8-8E5E-8D699CAD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2"/>
          </a:solidFill>
          <a:ln xmlns:a="http://schemas.openxmlformats.org/drawingml/2006/main" w="11430">
            <a:solidFill>
              <a:srgbClr val="2FA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CBB0D2-8B90-442E-B913-6D43D0C2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24F22-C5C6-4C84-A715-63A6469D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813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4A8E0-DBB5-4252-A49E-A0101E8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29000"/>
            <a:ext cx="17716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理解任务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生成 Thought /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F8A98-1373-407F-8B0D-B001C659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2362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717E1-D401-4125-8BBD-8477BA70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28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B780C-C5FD-448E-947A-15189674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813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AGENT PROGRAM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0C47C-07B9-49F0-B98E-516DFE2D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2038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维护 messages</a:t>
            </a:r>
          </a:p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解析并调度工具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90D70-F548-440E-98B5-0BF76DD9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808C04-3B6F-41DF-9310-26760D3E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78D8C-6AB3-4FDF-8784-26444302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81350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TOOLS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71DD3-E455-4559-944A-6B209D1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29000"/>
            <a:ext cx="1676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文件 / 终端</a:t>
            </a:r>
          </a:p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网页 / 数据库 /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D33F0A-5EDA-44C8-81C7-63DFE013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990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AD829-FD9D-4A61-BE09-1CC8C1A2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289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43F01-9633-4164-A4E1-3C1AAEDC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813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ENV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58989B-3240-4D02-9093-FE2E27B4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29000"/>
            <a:ext cx="666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真实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环境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091EE-3799-494F-AEE5-FA4CE0D0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5623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2B6F08-DE48-40E4-A8F8-23615F72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575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255DBB-43C1-4F8E-AC22-26A00F41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623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15E8E6-BE41-4FA9-B18F-ECB6DFC8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575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B8E0B-4E17-441E-83B1-4286B238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D47B6B-DD71-4A39-A16F-660CD3A8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575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4960F9-4E86-48D9-A286-2AF9A9A0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528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73305A-F4C1-4EF3-8E52-884F4F18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5FBE0-E30E-4D8C-9661-13E4A07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703F0-901A-4097-9F68-9E7EBDE1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481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F2D166-9C88-4D31-86AF-10C167C8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5287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B84C55-5C5C-4959-858A-7F11536D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481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0FE18-B4DB-4D61-A6A9-2FD668B1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482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219607-C84F-4946-8CA1-CE826768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1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关键点：Action 只是模型输出的一段调用请求；工具调用发生在 Agent 主程序里。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216118-F5AB-44C7-B19B-C070131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006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把模型和 Agent 混成一个东西，是理解偏差的源头。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1C92D2-FFA7-4891-9B12-0EE920F2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5A8149-BD32-4AA6-B8C2-0E6B030C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Core definition: LLM + tools + control loop + state history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018E62-FF1C-4537-9CD9-C64864BD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95020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BA70D-F1A7-4114-B3E2-09C7461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799CC8F-E8CE-4100-9563-5BE489F3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3214612-5EA7-4CB0-8F40-53509716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 E A C T   L O O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532E8-AE84-4B95-A506-8108845E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001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ReAct 的本质是工具闭环，不是复杂架构。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BE155-AC3D-4681-AC80-CC264E6F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Reasoning and Acting 把“思考”和“行动”交替放进同一个循环：模型决定下一步，程序执行下一步。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9831C-BA79-4D53-9EEE-C09E4F0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2"/>
          </a:solidFill>
          <a:ln xmlns:a="http://schemas.openxmlformats.org/drawingml/2006/main" w="11430">
            <a:solidFill>
              <a:srgbClr val="2FA7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90259-DEB8-4EAA-B647-F7D2472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7551B-C805-4F20-BEEB-D91F7D1A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01 · THOUGHT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B3A34-AE5F-488C-8BE3-559489A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765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先判断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下一步要做什么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362E5-C3E0-40B3-A41B-008F597F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A595C7-8A18-4751-966E-018839BD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C86D9-B400-49B4-8B57-896BE029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289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02 · 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EE392-EA98-4587-8E5A-A62BE7E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765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需要工具时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请求调用并给参数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67B1E-8999-4E32-A574-C3A76FB2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577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B646B-CDE3-4B7C-84C6-35653AED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4577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12378-1C0C-4809-9CCD-BE72CE7F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101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03 · OBSERVATION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6484F-3C3F-499A-8758-860D4C9C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8577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工具执行结果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回写给模型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FB93C-5916-4595-B7BE-A3CF2B20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E6A5A-B3CA-4837-9116-08831B86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EDE3C9-9E69-4F20-B700-76EF05B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101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04 · FINAL ANSWER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32F551-6942-402F-8A93-A82BB6B0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57750"/>
            <a:ext cx="1866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信息足够时</a:t>
            </a:r>
          </a:p>
          <a:p xmlns:a="http://schemas.openxmlformats.org/drawingml/2006/main">
            <a:pPr algn="l">
              <a:def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退出循环并回答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0A327-F30F-45AE-AE15-35A2F2F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09900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BB54D-DBC6-472B-960B-CB94217C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925014-60FE-4250-855B-0330C7B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AA6FC2-89E4-4AC2-8CB9-F865D490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71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7E3EA-E9BD-4AFE-85D0-C6DBBBD3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91100"/>
            <a:ext cx="1009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190603-61FF-4C6C-AFCE-2939E2E2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863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BDEDBD-C4EB-475E-AE86-42F9FF50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29796-ED1E-4151-BADD-946A8E62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69556-9067-40C0-8E60-21BE21CA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65760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B98F0-4DFE-4875-8D77-7E7E2D4A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719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A36CF5-5DDD-4BFF-8975-268C1319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003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需要工具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C3EC92-0F66-4C53-BDAE-931CB1E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434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继续推理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85EBF2-2CCB-4F75-AE21-36784930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005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信息足够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C87F66-7D49-4692-898D-E3F1DDC6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3812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0A41E5-C2C8-4EEF-B170-EF2FC5F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098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循环的脏活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151703-6A7A-4B15-AFDA-50B7B804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1809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维护消息历史</a:t>
            </a:r>
          </a:p>
          <a:p xmlns:a="http://schemas.openxmlformats.org/drawingml/2006/main">
            <a:pPr algn="l">
              <a:def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解析 Action</a:t>
            </a:r>
          </a:p>
          <a:p xmlns:a="http://schemas.openxmlformats.org/drawingml/2006/main">
            <a:pPr algn="l">
              <a:def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执行工具函数</a:t>
            </a:r>
          </a:p>
          <a:p xmlns:a="http://schemas.openxmlformats.org/drawingml/2006/main">
            <a:pPr algn="l">
              <a:def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处理失败结果</a:t>
            </a:r>
          </a:p>
          <a:p xmlns:a="http://schemas.openxmlformats.org/drawingml/2006/main">
            <a:pPr algn="l">
              <a:def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决定是否继续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8B8F20-528E-45A7-83C4-B62EB9D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10150"/>
            <a:ext cx="1695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DAAB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DAABD"/>
                </a:solidFill>
                <a:latin typeface="PingFang SC"/>
                <a:ea typeface="PingFang SC"/>
                <a:cs typeface="PingFang SC"/>
              </a:rPr>
              <a:t>这些都不是模型自己完成的。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EC76F0-7A63-4E43-BD46-667F809B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037E69-0A83-4161-B1BF-F6E5CAA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ReAct: Thought requests Action, Observation loops back until Final Answer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71940F-04B0-4F8E-944A-9AD71671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8048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7CDB0-97E1-44C4-AB36-45A04CE7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9E57432-2E03-41DE-8FA6-E85D9A4E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54F3C7D-22C3-4E38-B461-22D9E0D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 R O T O C O L   S P L I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E308B-E4E5-4B06-9153-8A91A50D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ReAct 能跑起来，靠的是输出协议和解析执行分工。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7CB8A-403B-4AC2-B07E-BE5F509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系统提示词规定模型“怎么说”；Agent 主程序负责“说了以后怎么做”。这层边界不清，代码就会变成补丁堆。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B64B-C3E5-4A89-9DAD-B757CAB4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3053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8E47B-E090-42D6-AC31-C2CD64E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24100"/>
            <a:ext cx="43053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A0412-0291-4FE6-9BCC-17070A87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3335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5D0EC-C755-4287-B3DB-EF099A63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系统提示词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D345B-8BF6-499D-987A-871247E2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thought</a:t>
            </a:r>
          </a:p>
          <a:p xmlns:a="http://schemas.openxmlformats.org/drawingml/2006/main">
            <a:pPr algn="l">
              <a:defRPr sz="12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  action(tool, args)</a:t>
            </a:r>
          </a:p>
          <a:p xmlns:a="http://schemas.openxmlformats.org/drawingml/2006/main">
            <a:pPr algn="l">
              <a:defRPr sz="12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observation</a:t>
            </a:r>
          </a:p>
          <a:p xmlns:a="http://schemas.openxmlformats.org/drawingml/2006/main">
            <a:pPr algn="l">
              <a:defRPr sz="12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  final_answer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045B0-24C7-4B88-8C09-A921EE61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3067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规定格式、示例、可用工具、注意事项和环境信息。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8F510-7375-430C-B0F8-855CCEC2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956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模型输出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5D232-281E-4695-A576-89A64A1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8140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Action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or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Final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FEF60E-4299-403F-8BF7-F23B440C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Agent 主程序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5D0B3-4185-463D-9BA8-A91FDA13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300A8-37F1-4718-8F55-AC4ACA3D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051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9F6140-F872-4CEF-8035-366CC324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57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PARSER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0386F8-F7FF-4925-BDDE-4172EFE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解析工具名和参数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B7578-9DD5-4254-AEF4-D8DBB700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1504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73AB4-E0EF-44B4-8867-C3739A6E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051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CE6DC1-EE92-4EF0-9B92-BD0108FB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RUNNER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0BA1C5-DCC0-4675-87CC-D69384F0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181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执行函数并拿结果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60DE8-6A1B-44E4-A60D-F22C086E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34099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64A3F-CF66-46B1-B9CA-1A9B04C1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386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4C2C5-5945-40F2-BB5B-16C5B909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08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692688-11E9-4E30-9E3A-823B4FE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38650"/>
            <a:ext cx="3086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把 Observation 追加回 messages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26738-F712-48A9-B7A0-6A769EDE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71900"/>
            <a:ext cx="1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2E10CD-4022-4E69-90BB-70B4BFD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671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F06858-ABB4-4F06-ADB2-AFD12377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719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CEA9B6-4B4E-4DB2-BB07-34A10770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671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6B9947-A0E7-4B3E-BB3D-D4DBECE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480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BD7E87-8401-46D7-BCD1-4E569419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5762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85B43A-E71D-4A6D-AFBF-1A93EE08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57625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8A8812-0759-41A7-9CB8-D0B843D5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DC1E4C-FBD7-43A8-9921-765E1BEE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Protocol is guidance; execution and safety are program responsibilities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119B0B-742D-4F55-8297-B9CB4C42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04613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1B2839-023A-46E9-A970-92DE3C2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106C009-7D34-49F0-BE15-7E33E87A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7173A9D-A834-4BAD-8611-C7FF01D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M I N I M A L   B U I L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EAB81-200F-40CB-8D79-22AC113C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28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简化版 Claude Code 只需要几个稳定数据结构。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9AE99-84FB-444F-B9FE-2070E234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别一上来多 Agent。先把 project directory、messages、tools、parser 和 observation 回写打牢。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26A9F-1A0A-47EE-A2A8-9D1FE945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9337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CFD19-B9D3-4601-968B-3B429180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输入与工作区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48709-611E-4612-8860-C99E5D63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uv run agent.py snake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73B1B-0DF5-47A4-82BA-438060A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B38DF-221D-45F8-926C-AC687539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52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4B6D8-4B65-4091-9663-25E41821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PROJECT DIR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EC698-00F9-4EE1-BE0F-B740D9C1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529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snake/</a:t>
            </a:r>
          </a:p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HTML · CSS · 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0ED7-BC6C-4A07-B4DB-684AD777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38350"/>
            <a:ext cx="28956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AA4984-191C-4BB6-B07A-AF394862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00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agent.py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DB761-C983-4C79-861B-421202EA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194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控制循环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36F94C-8860-428F-B281-7106F88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62300"/>
            <a:ext cx="213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6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75E311-6E4B-45C9-A46F-FAE843C2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9EDC02-D06E-4400-B52E-27D5B210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10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tool registry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61CB9-88C9-4852-851A-C7A415A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91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action parser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EDB5B-7C21-4734-8171-589C3BFF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572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call_model()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42D78E-9763-416B-A514-B76E8BD5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8003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7A4EE-1E7F-4624-95B4-69B51045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工具函数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36E7E-B3EB-4952-9EDA-2A4B654F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095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76200" rIns="95250" bIns="7620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write_to_file(path, text)</a:t>
            </a:r>
          </a:p>
          <a:p xmlns:a="http://schemas.openxmlformats.org/drawingml/2006/main">
            <a:pPr algn="l">
              <a:defRPr sz="9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read_file(path)</a:t>
            </a:r>
          </a:p>
          <a:p xmlns:a="http://schemas.openxmlformats.org/drawingml/2006/main">
            <a:pPr algn="l">
              <a:defRPr sz="9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list_files(path)</a:t>
            </a:r>
          </a:p>
          <a:p xmlns:a="http://schemas.openxmlformats.org/drawingml/2006/main">
            <a:pPr algn="l">
              <a:defRPr sz="975" b="0">
                <a:solidFill>
                  <a:srgbClr val="151A22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51A22"/>
                </a:solidFill>
                <a:latin typeface="Menlo"/>
                <a:ea typeface="Menlo"/>
                <a:cs typeface="Menlo"/>
              </a:rPr>
              <a:t>run_command(cmd)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E1E5-08CF-4720-8BEE-25F6A1E6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29150"/>
            <a:ext cx="1962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稳定工具名、参数结构和返回格式，比花哨封装更重要。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E0CC05-AFCF-42A4-BC5B-08E27E2E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F8C8CC-7573-4599-91CE-73E17C3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480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831214-02AA-46D9-A7F6-9A0A3C2B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528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B9A43-09FB-4FBA-AFAB-2A5B8D4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60F36D-9429-458D-B3B2-DE5B8997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5DA16C-E741-4245-8458-7C4FB203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386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FAE1F-04BB-464C-ACAF-BAFCB2AB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3434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AD5AE-1962-43D6-B73B-9EBA2611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386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C4D19A-3D19-4FDC-ACE7-7694E68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510C21-369E-421C-82E3-C222EBC8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Minimal runtime: agent.py + project directory + tool map + messages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15F109-D096-442D-B27D-52E009F1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813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16EAB4-290B-4D40-997D-E8F6BAB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7F32EC3-B5A8-4FEC-81A0-D88DAE28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A9582E-93C1-409F-8238-FEF0306D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M A I N   L O O 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53F3A-D782-46F4-9419-F2AEC9A0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messages 是 Agent 的状态，工具结果不回写就等于失忆。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3DE42-6818-4D2D-A9F0-4C2DF20B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主循环真正维护的是一个不断增长的消息历史。模型每一轮能否继续，取决于 Observation 有没有被放回状态里。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E66A8-AE93-4D3D-9E9A-F49B2E5E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43150"/>
            <a:ext cx="190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EA33E-32E7-440E-82C4-2EB83579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384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9525">
            <a:solidFill>
              <a:srgbClr val="2FA7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92103-CDF7-4F4B-B609-8F037E7D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050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53B45-9920-43D9-BF64-5F535916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81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初始化 messages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4DA62-B189-4FBE-8654-6024EA45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system prompt + user task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05ACB-381E-47C1-889F-B2F64EC2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194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B7773-324E-4CAE-9701-019A6CFF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933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7B7C7-7A4D-40ED-860C-00EACF45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62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9525">
            <a:solidFill>
              <a:srgbClr val="2FA7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A163D-1E44-4CB1-817A-CCD78E9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289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FAE9E-4B06-4519-99A8-3C711FE4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051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调用模型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56422-BC31-47B2-BE88-BB6D7C2E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909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call_model(messages)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B1B519-60E2-48C0-8C51-305B9490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433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61FD2F-369B-4206-B01D-7B88A3F3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6576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1776A-87C2-4068-8112-BF8885A0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862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59B63-1B58-49B1-921B-1834E3F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528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239C6-61DD-4A42-80D3-A9A714D4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290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解析返回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12BA5-3504-42F4-B7A1-7243E3F9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148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Final Answer or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67126-364B-4153-8869-0A580FC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2672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E8D926-9DFD-4F4B-B4C5-A4677D1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815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D139E4-0C67-416A-A1BA-1574650A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101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9525">
            <a:solidFill>
              <a:srgbClr val="65B9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FC8870-AE4E-4A09-9FE4-E619AD70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767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A57BA3-65DD-4B5B-BB9B-4BC0A6D0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529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执行工具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A8269-6E46-4407-83A3-C15AD50E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8387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低风险直接执行；高风险先人审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3AF795-0DA9-41C0-8F06-4800641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991100"/>
            <a:ext cx="19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AD930-697C-4D48-8F43-D10D548A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1054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DDD2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5CA87-BA6F-4547-A2B6-3D21F406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340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9525">
            <a:solidFill>
              <a:srgbClr val="C996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F6F895-690C-4E4F-B10A-5A7CA0C7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0067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6D933A-EDE5-4CAD-85CB-2A18F401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768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回写 Observation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3F69D7-7D4A-47DE-8BC2-0E8AE3E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56260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append to messages, then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48120B-35C5-4B6B-84F1-F45970B7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35242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71899E-0DBB-4F5F-8B5D-4BE43A1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670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0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状态载体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A91618-A87C-4B63-AE08-8A4DFFEE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0400"/>
            <a:ext cx="2609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947293-A6D2-4E3E-9E73-E04273F4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04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57380C-22F1-418C-956F-CAA857D1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MESSAGES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53ADF3-4171-4C9F-AA6C-C72534D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所有上下文和工具结果都在这里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A698F0-589D-4FAD-A2E1-DAAB394D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8C0BA9-7D75-448C-A8A6-C65D0CE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1529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19D457-B6AD-489C-849B-1E25C458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MAX LOOP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554802-CBBF-4912-A8CE-85CB6530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5295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坏提示词或坏工具结果下必须能停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F82718-B84E-4397-BFD4-6D56D68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14950"/>
            <a:ext cx="449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DA79C70-B81E-4147-8BEC-771FA0F9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483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真正危险的不是模型会不会想，而是主程序会不会不受控地做。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E984C4-CDD9-4023-8CB8-A4DAD545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2F1072-6DB1-48C2-BEDC-A4524C0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State discipline: observations must be appended, errors included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0638BD-F379-4B54-8DF0-8E1A2381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37741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14AA18-8A05-40C1-A960-C6902A9E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8B08CD-7496-4257-B5A5-9F45146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BD30CC9-18C3-48A7-A4AE-A863A28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 U N T I M E   S E Q U E N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B8EAF-D59F-468E-8448-2EA00637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时序图里最忙的不是模型，而是 Agent 主程序。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53C76-E35B-4696-9FA2-5BD9654D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模型产生 Thought + Action；主程序负责展示、解析、执行、记录，再把结果带回下一轮模型调用。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5BDD9A-B4BD-4EAF-8B37-7D8D4CA9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58CE5-8FA0-4C0B-A326-78E09E38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用户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69A43-A186-4101-BC33-C4E18C21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295275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2D7EF9-8F0B-44B8-8517-B7A0BB89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81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6D4C9-5912-4CCC-9690-16374F25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05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Agent 主程序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681ED-DFFD-4FFA-882B-A8E8A9C5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5275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B92C1D-68DA-42A6-B847-69A6C4A2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2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53AB3-4CEC-4AA7-BA3C-6067BDA8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05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18D41B-C4BB-4F19-979E-318FABF6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5275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BB6F8-EB74-47C8-BCB8-87CAC8E8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AEE720-8D3A-45BB-88ED-04C4CA55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050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工具函数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1CF07-D58B-4355-88B4-5E82A4D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52750"/>
            <a:ext cx="95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ABD82-3CB3-4370-A263-C0862607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B3BCA-B86D-4494-B458-3B440E77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337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2BF422-63AA-40A1-8C59-E80F0EE9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48000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提交任务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E44F4-BC6A-4273-AF2D-48E990B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52DF0-D187-4497-A095-431F8DD7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575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2D051-B0E3-4F0B-ADB5-90D00815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发送 messages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2B0736-5CA3-4B32-AA12-91335F92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8620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0665A9-9E4D-45BD-B26F-7DDDEE92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814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9E4DBB-6BEE-404B-A635-F1015C6F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957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Thought + Action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6D167C-6B40-410D-8FE8-5D5B2575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35EE7-B4F8-4605-B3CC-B1964C5C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052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DEF8D-F004-41EF-B504-2D335D4DF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19550"/>
            <a:ext cx="516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执行工具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C64BA6-817B-4F6E-B566-1209AF24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33900"/>
            <a:ext cx="5353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FC8F88-EDA7-44B1-B44B-37ECB030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91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3D00A3-AFA5-46BF-9998-0C54074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43400"/>
            <a:ext cx="5162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Observation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C7E7E4-972F-48A7-AC75-F2743D1C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BC22C6-0FF8-4412-909E-26328DEE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529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E93438-A715-43A7-BBEA-D02087B7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6725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更新后再次请求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FB553D-F092-4A2F-85A6-FE057A6F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181600"/>
            <a:ext cx="2647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AFB33C-278A-49FE-A72A-34BF355B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768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0E4F5F-FEFA-4647-95FB-BE6AFA1D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91100"/>
            <a:ext cx="2457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Final 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A76D14-9DDC-4DD3-9F08-1595836A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05450"/>
            <a:ext cx="2324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829686-6DEA-4C51-B12C-A562410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006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4161FF-4F63-445D-88EB-D519AEA1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149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返回结果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210018-8F3B-4D9D-B893-13538992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248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5E5140-8623-43C7-98F4-99C7541E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81700"/>
            <a:ext cx="723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0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结论：Agent 主程序才是控制权、状态权和工具执行权的拥有者。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0ADF82-F135-4D50-847F-22E95A99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476DFB-B5D6-439D-AB70-D319B8F6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Sequence view: program owns state, permission, parsing, and execution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17A1F3-8CE2-4C87-BFAF-D3DBFA4D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3677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04222-3C10-4118-BF66-B0C4CADB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01FD78-16B8-43DA-BE9E-77F680AC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77B127-4DA6-4BC9-9CCE-3C5752C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P L A N   A N D   E X E C U T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46EBD-AFCA-45D9-9B2D-E5136CCD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Plan-and-Execute 多的不是 TODO，而是重规划闭环。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B0D8E-02AB-423E-B405-8A180F24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先规划、执行第一步，再基于执行记录重写剩余计划。执行 Agent 内部可以是 ReAct，也可以是其他实现。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938D7-3600-486D-AC81-4CFA9B44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3441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8C6553-9820-4939-9A85-BE174B38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52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用户问题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6F8F0-1FA4-425A-A591-BA1B0E30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目标通常更长，</a:t>
            </a:r>
          </a:p>
          <a:p xmlns:a="http://schemas.openxmlformats.org/drawingml/2006/main">
            <a:pPr algn="l">
              <a:def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需要跨多步搜索、验证、整合。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00241-5F70-48D7-AE25-3CF56C69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2FA7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E1B64-4727-4424-9DF2-1CDBF609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241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62DD79-F9BD-4DC2-B5C2-4C8BAC3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765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PLAN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695F6-8D5D-4932-9233-97534CD2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241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生成初始计划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B261F-D3AF-49E6-B850-C8701905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2286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2FD19E-2303-4AD4-B2E5-F8DED29C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62020-CACD-49ED-9D60-C1B4E1A9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24300"/>
            <a:ext cx="1962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EXEC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ECFA3-FAC4-4702-8421-21D208F5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7195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执行当前第一步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0027B-535A-483B-8019-7AB16C2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79B8F-E6B4-4864-B057-37A110D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48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4DE75-A067-40B4-A96B-ECAA4379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00400"/>
            <a:ext cx="2057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RE-PLAN MODEL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F37BC-8F99-4119-B845-911489D1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根据执行记录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更新计划或给答案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8580C-CFEE-4AA7-B581-E14305D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00FD0-E3C2-4CB7-9ACA-92E38588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241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71FC0-5E49-4365-B5A0-FF3A4622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84C5BB-E437-46C4-859D-46226F0C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8615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CC3BC-2102-49D6-9308-C79CF7C7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9A2D59-88AE-4BCE-B581-D4D4A57D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433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F4711B-BAED-4AEE-B7B4-31706DA7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C8093-D9CD-4C41-999A-F7A873A2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194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5380AB-F9B5-4CAD-BACE-128D872A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425D0F-8926-4ABA-8819-FED5D927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AB4C2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AAB4C2"/>
                </a:solidFill>
                <a:latin typeface="Songti SC"/>
                <a:ea typeface="Songti SC"/>
                <a:cs typeface="Songti SC"/>
              </a:rPr>
              <a:t>状态不是只有 messages；这里多了 plan + execution history。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8F4F9-3482-4454-85CF-35B50493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34B0D7-5336-40EB-BAB1-7AF996D7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rPr>
              <a:t>Plan-and-Execute: plan + execute + re-plan until answer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EE8AF1-B9EA-47A3-B664-74826017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345697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FE683-47E0-44C1-B859-0491A6C6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9533EF-F480-4E06-A33D-79FBCA09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7FDC315-C91B-4D91-B070-4932541C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 E - P L A N   E X A M P L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62A59-3312-4279-9870-CD94EB5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重规划必须基于执行结果改剩余计划。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1900E-7794-4526-B3C0-0D182AE2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它不是机械地删第一项，而是拿“当前计划 + 历史执行记录”判断下一步该保留、删除还是补充。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C2748-DD0E-4EE6-85F7-89209683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1047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1C337-F450-4A69-9A4D-504792E9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68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例题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77F7A-31A9-4DE9-BB41-9B495D36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146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今年澳网男子冠军的家乡是哪里？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84B49-5545-4171-A122-06572817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来源笔记中的 Plan-and-Execute 示例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59E9A-BE85-4AC8-8E8A-4F25158E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152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F2"/>
          </a:solidFill>
          <a:ln xmlns:a="http://schemas.openxmlformats.org/drawingml/2006/main" w="9525">
            <a:solidFill>
              <a:srgbClr val="2FA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81174C-4932-4450-B7A3-873FB608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初始计划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A9E84-4024-4D45-B2D3-5D5CAD1D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1. 查询当前日期</a:t>
            </a:r>
          </a:p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2. 根据年份查冠军</a:t>
            </a:r>
          </a:p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3. 查询冠军家乡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03A61-DBD7-4D08-BBE1-67E985D4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624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54F6B-4243-4329-880F-CF1F6F3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576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8B6BD6-20FB-4972-A280-AFE83B43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2152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1E7"/>
          </a:solidFill>
          <a:ln xmlns:a="http://schemas.openxmlformats.org/drawingml/2006/main" w="9525">
            <a:solidFill>
              <a:srgbClr val="65B98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5E3C95-749E-45F7-928C-C3AB7026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67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执行结果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64AF43-EE07-4E35-A2B4-4B5A5E02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Observation:</a:t>
            </a:r>
          </a:p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当前日期已获得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A8072-774F-49F2-BD7D-EDAE73EE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624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E59453-C444-4DCC-A26B-50F43B1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576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654B85-8AE4-4BF4-AEEA-D2A29E51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38550"/>
            <a:ext cx="2152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C7"/>
          </a:solidFill>
          <a:ln xmlns:a="http://schemas.openxmlformats.org/drawingml/2006/main" w="9525">
            <a:solidFill>
              <a:srgbClr val="C996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A287F-711F-4AD6-B812-FA9FD0B3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重规划后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D91A0-913C-4F6F-8BB4-8538451B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10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1. 查询当年澳网男单冠军</a:t>
            </a:r>
          </a:p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2. 查询这位冠军的家乡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C1B4F-36D5-4206-9930-600A0B60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624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FB3B47-B4C4-4A3C-B4E0-1BF4374F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2576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F4DCFD-4255-4A3C-8EFD-C75A180F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1526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7F4E0C-FAB5-4882-BF60-D872B46C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67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结束条件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66811-F03C-4368-95D5-77E5888D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52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Re-Plan 不再返回新计划，</a:t>
            </a:r>
          </a:p>
          <a:p xmlns:a="http://schemas.openxmlformats.org/drawingml/2006/main">
            <a:pPr algn="l">
              <a:def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而是返回最终答案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384D0-3082-452B-9788-3C057DC1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FA7D65-AD65-447F-81B0-A2A6ACA1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好重规划看的是“剩下什么还没解决”，不是把 TODO 当成静态清单。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358AF5-B3AF-4034-B7E8-3B13123C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91200"/>
            <a:ext cx="2152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这也是它比纯 ReAct 更适合长任务的原因。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5A8E62-07A5-4B9F-9378-F685F5E9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1386E-F17B-4457-B3D6-DB0CBD5B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Re-Plan must use execution history, not just shorten the 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232B7-8BD3-4A01-B5CE-C508E743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5226896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4B3848-A723-4CBA-A9E6-247FDDEA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9B9F2DB-D614-4884-AF29-F67216B4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F32D4A-5F4E-46EE-B587-9CA4391D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 A T T E R N   C H O I C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40932-56F3-4C90-8013-5621391A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191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模式选择看任务形态，不看哪个名字更高级。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A5FEB-C074-4EDA-989B-3B5DB380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ReAct 和 Plan-and-Execute 的区别是状态形态、执行粒度和复杂度成本。短任务硬套规划层，就是坏味道。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58002-07A9-43F8-AD9B-7B42A8C9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9525">
            <a:solidFill>
              <a:srgbClr val="12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16620-C2BA-439C-B976-2A4BAFD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95ADE-5251-4C3A-AE46-708BCCC7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146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28ED0-6B65-4839-BC77-925274D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A4FD9-F8AF-4F7B-8863-77D54DE0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146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Plan-and-Execute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B67C4-4F8D-48F0-9BA2-16A6ABF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54BE9-0028-48B9-B13A-53005F8E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146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选择信号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413CD-6D51-443F-83DA-9BC82D1E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85CD0-2C47-45CC-B1BF-6AF05D63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1F643-7C0E-414B-B2E0-15965E44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核心思路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31133-2EC2-4C74-BA3B-ED122075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670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边思考边行动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B12BC-55B7-4F8E-AD78-4DE30B16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527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BD95DC-C070-4DBD-A70D-5306D95D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670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先计划，再执行，再重规划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0757F-961C-44E9-AEEE-F58EA9E4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53A456-3561-47F1-8586-4DBC0B53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670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任务是否需要全局路线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6C02D5-C567-4C7E-9D1E-92287D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BA31B-8B3C-4026-B477-9A8DF003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5D4AA-7920-4296-B866-F5B17B38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状态载体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6A0EEF-5C40-45D0-937F-CC159B71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messages 里的 Observation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13B251-75F8-436A-9B4F-EDCBB1AC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505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55E6AD-EE88-4963-8809-679D49F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195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plan + execution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C8ADA-5B89-40F8-BA37-BFBC66E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C68FEF-BD2E-45D0-B680-1306898F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195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是否需要显式进度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B5905-263C-458D-BA47-1585EBB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052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4B3EBF-D793-4333-A89C-E59D1392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B7411-D9AD-48DA-8A6F-9FFB5C37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执行粒度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27BBE8-1C46-4A95-9902-43CA116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每轮一个工具调用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291BD5-0730-4BE3-AFC4-C579876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576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E218FF-6315-41ED-8832-B54143A4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719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每轮执行计划中的一步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9E5924-EF58-4F7E-A548-592DE5FA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576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D871D-BD28-40CB-998F-321DF3A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719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步骤是否跨越多个子问题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A802FC-73CD-435F-8D37-3CFA99FF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576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33990F-172E-45CB-B312-EFC4E10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E4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69566F-8F43-4341-A3EE-5B391167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主要代价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667A8-D719-4F65-895E-C44FDA0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244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长任务容易绕路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B2ED5F-32E9-4344-B7A9-D2A47F9C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10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17E27D-506C-4399-971B-1190842F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2440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模块更多，延迟更高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D1939C-8AAE-47FC-A824-25D6911F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380AF9-2992-4F5A-967D-D33DE3A3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244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复杂度是否值得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E94CD9-04E9-4D81-966B-C5A1A11B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1010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EC6A3C-F4BE-4606-A0DC-8893EBE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10267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EADBEA-860A-4E5E-997C-D8575E61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657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适合场景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0D6968-4063-4488-8D85-00E7853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文件读写、代码生成、小步闭环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B67841-740E-4952-87E4-288DD9F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625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3BAA1D-D8DE-48BD-BDA7-78D6A659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2768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调研、搜索、多步骤任务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4C6C6E8-3BA6-47FA-8853-44C578CA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625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0E5CCC-BCB3-4BFB-8052-9DF8E6AE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7685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51A22"/>
                </a:solidFill>
                <a:latin typeface="PingFang SC"/>
                <a:ea typeface="PingFang SC"/>
                <a:cs typeface="PingFang SC"/>
              </a:rPr>
              <a:t>用户是否要看计划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4AEE5F-AD16-428A-BBA1-D3F973A9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62550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F2FA44-E1DA-40CB-816E-0501622F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67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ED7"/>
          </a:solidFill>
          <a:ln xmlns:a="http://schemas.openxmlformats.org/drawingml/2006/main" w="9525">
            <a:solidFill>
              <a:srgbClr val="E45A3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11CACC-CCAE-4561-8334-488E4C4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91225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判断原则：任务短、反馈快、工具闭环清楚，就用 ReAct；任务长、依赖多、需要解释进度，再上 Plan-and-Execute。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6868C0-D9A7-443C-8082-AE0BB49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EBB963-A3E7-4F1D-AB81-6F768494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Pragmatic choice: use the simplest control pattern that fits the task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CA82D89-3F9E-4F90-8D8F-82B8CCD6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669465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E4B539-1625-4F16-BF71-AC86DC7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3261CC-A48E-418C-B8C7-BCF0135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225EA43-0D99-4D70-A866-95232450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E N G I N E E R I N G   G U A R D R A I L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3BABF-BA52-47FE-8B75-41B278B0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90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2625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工程约束比提示词更接近安全边界。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ACABB-9D16-4679-824E-8665FC2E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811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系统提示词可以约束输出格式，但不能替代权限控制、路径限制、人审、失败处理和最大循环次数。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7F5DD-EAEE-482F-BD40-E7924D3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2934A-9FAD-4178-9825-99C0E5DC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3CB1A-646F-4D79-830F-4B08375A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86339-5AF4-4CBD-9B4B-057369B2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24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模型不会真正调用工具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521E2-7677-4298-A468-B212F464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它输出请求；程序执行函数。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92786-DF3B-4963-AF22-8AF21B8D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C3B36-70F9-4E1A-A181-DEB0B4C4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56CEF-2F8A-4C0F-8FFC-9EFC795D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143EC-3C1F-41B9-982E-0222CD9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系统提示词不是安全边界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433AC1-B7DD-4E96-BF07-815AF05F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高风险动作要靠程序权限。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009F-C730-4657-8684-79D1CD57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F1EC0-9B5F-4EAA-BF18-D1B02CE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7CFE2-F79B-47A9-BB32-844B40A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87616-5924-4B94-A50B-2B0F5FD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623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messages 是状态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C293C-7106-4CEC-AE4D-BBB12861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195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Observation 不回写就会失忆。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32A6D-5418-42A1-B83D-2B5A037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2EF8F7-C3AF-4697-A985-8364FB7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575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49BAE-7800-4A93-8498-9E92235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07630-0000-4750-BB60-E566BCF6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623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工具协议要稳定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9F710-1CD3-40E4-9067-5B2CD2FA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195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名称、参数、返回格式别乱跳。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769F28-1A8C-414E-A2FF-E94A4B00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6A03F5-A7FD-4AA6-BF7B-DFEA51AE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F0368-B238-4C28-BE59-1AE72C1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632A9-0DF0-4624-8B54-A756CD4F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005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高风险工具必须人审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3FC9C-7058-44BC-AEFA-03312276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57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shell、写文件、数据库、支付、邮件。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2A2280-D5D2-434E-89E0-8B13E2F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DCA52-890C-47DF-B656-F3E3E28E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957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19D0D0-E479-4DD7-A068-6AB4BF00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7461C1-D271-457B-AB30-A8DB48C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005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必须有最大循环次数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BA4F26-055E-41FF-AA0A-3FBD5EE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坏提示词和坏工具结果都会绕圈。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6A86E6-E3FF-4E8F-8ED3-EA3F38B4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47053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4CA37B-87EA-4C3D-9DED-0017A18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3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2393D-5161-4CF4-A2E3-8A5CD746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266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A89235-7916-41B1-B954-DF1E87FE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387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错误也是 Observation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8A5A7C-BAAC-4119-8961-E1991F42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9590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让模型看到失败原因，再决定下一步。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1265F3-EEF1-49EB-BE21-E52A3E6C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D49AC4-5313-46BE-B13C-2C6E1405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51A22"/>
                </a:solidFill>
                <a:latin typeface="Songti SC"/>
                <a:ea typeface="Songti SC"/>
                <a:cs typeface="Songti SC"/>
              </a:rPr>
              <a:t>把这些写进主程序，比相信模型“会乖”靠谱得多。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FD1D97-6FAA-48B4-9D9D-4732122F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44622D-816C-41A3-929B-AB55A7D7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69717C"/>
                </a:solidFill>
                <a:latin typeface="PingFang SC"/>
                <a:ea typeface="PingFang SC"/>
                <a:cs typeface="PingFang SC"/>
              </a:rPr>
              <a:t>Guardrails: permissions, protocol stability, max loop, error observation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D354F1-C536-4A0B-82E1-F1231C09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69717C"/>
                </a:solidFill>
                <a:latin typeface="Songti SC"/>
                <a:ea typeface="Songti SC"/>
                <a:cs typeface="Songti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08029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B4425-4D5C-4E96-B913-74AF7A1C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998C9C6-3132-472A-849A-DE7B0A3E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9B3667-4DD9-4665-82D9-09D8C742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AAB4C2"/>
                </a:solidFill>
                <a:latin typeface="PingFang SC"/>
                <a:ea typeface="PingFang SC"/>
                <a:cs typeface="PingFang SC"/>
              </a:rPr>
              <a:t>F I E L D B O O K   N E X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49759-5AB3-4213-AA18-DFA0DA7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后续学习要追问五个 ownership 问题，再写最小实验。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95946-BC41-4427-A883-E31BAF7E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框架名会换，底层问题不会换。谁维护状态、谁调用模型、谁执行工具，这些答不清，换十个框架也只是换皮。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0F83D-DF81-4614-B127-F3986A78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932ED-FC4D-4ABB-94C0-9B6E0A9D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142EF-13A1-4D01-9E83-5D428E7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FCE81-2FE6-4E82-8716-43A41D77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谁维护 messages / plan / history？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CD3CF-76B5-4B64-9C7C-6FDE9DCC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4099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5CE24-8742-4D2D-AE0B-9849297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051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C9962E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D3DE3-B11F-4A60-91D3-25F6D938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2FA7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BB910-65F7-4999-8FCA-BBE6FA41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05899-D8C7-464E-915A-1B939CC3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C4E157-BC31-498F-9905-4CBE50D2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766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谁调用模型并控制上下文？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01886-088B-4729-9A79-C4F7ADCA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099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F456F9-8BE0-4735-B08B-ECB842FC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7B8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34936F-A506-4486-B7C7-80AE714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E45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5EFA6-C530-48B2-AE5D-B3E25A4C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1553B5-886B-439D-8672-54C1D4EC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28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解析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F9DE28-AFD5-4567-88CC-40FC1DE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766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谁解析工具请求和参数？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B2E77-5228-460A-BC80-BF85677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5A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2D4EF-DA94-4A8A-B0B7-F94D950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051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45A3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ABD556-A68A-4626-8FF7-87B90E58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65B98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DDC27-7654-4D77-869C-D8C8CF21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765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D9B29-A13C-49A8-AE70-7E1B64F6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28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DEC7B-C48A-45CD-838E-AD9289F2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766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谁真正执行工具并处理权限？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3952A-AA48-480F-960B-E8984812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9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68BBC8-62D4-4414-8A05-852F18F8E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30517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5B98D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DDCFAE-103D-4772-96AB-0F35405F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1752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11430">
            <a:solidFill>
              <a:srgbClr val="C996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0FB3A0-D6DF-4892-B6C2-3F6432C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6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B50CC9-B9EE-4533-98AF-5DDA26B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28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defRPr>
            </a:pPr>
            <a:r>
              <a:rPr sz="638" b="1">
                <a:solidFill>
                  <a:srgbClr val="C8D1DE"/>
                </a:solidFill>
                <a:latin typeface="PingFang SC"/>
                <a:ea typeface="PingFang SC"/>
                <a:cs typeface="PingFang SC"/>
              </a:rPr>
              <a:t>回写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360BA-AD14-4E18-9DA2-1C277C6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76600"/>
            <a:ext cx="1428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工具结果怎么回到模型？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1BE56-4C02-462E-97BF-4D04B26B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9886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0"/>
          </a:solidFill>
          <a:ln xmlns:a="http://schemas.openxmlformats.org/drawingml/2006/main" w="9525">
            <a:solidFill>
              <a:srgbClr val="34415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E6F403-D87A-49F4-8FF9-A1837BE8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72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最小实验建议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BEDD98-9988-46F8-BDFB-D0F4D449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3395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E2E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8E2EF"/>
                </a:solidFill>
                <a:latin typeface="PingFang SC"/>
                <a:ea typeface="PingFang SC"/>
                <a:cs typeface="PingFang SC"/>
              </a:rPr>
              <a:t>在 labs/ 下实现一个只会读写文件的 ReAct Agent，验收标准只看三件事：能写文件、能把 Observation 回写、能在最大轮次内停止。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05F4C-35E5-4D1F-BEA8-84017B0A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62650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E276BF-5F79-4CE8-B23E-89229D26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150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8D1DE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C8D1DE"/>
                </a:solidFill>
                <a:latin typeface="Songti SC"/>
                <a:ea typeface="Songti SC"/>
                <a:cs typeface="Songti SC"/>
              </a:rPr>
              <a:t>别为了“看起来高级”先做多 Agent。先把单 Agent 的状态、工具调用、追踪和评估做好。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5BFE50-C2AF-480C-AB6B-256F30BC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EB84B5-12F1-4119-A156-4A7FDE06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28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defRPr>
            </a:pPr>
            <a:r>
              <a:rPr sz="563" b="0">
                <a:solidFill>
                  <a:srgbClr val="8F9BAD"/>
                </a:solidFill>
                <a:latin typeface="PingFang SC"/>
                <a:ea typeface="PingFang SC"/>
                <a:cs typeface="PingFang SC"/>
              </a:rPr>
              <a:t>Next step: smallest ReAct lab before SDK and multi-agent complexity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F42A09-5A1E-4D26-A4C7-85E0945E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defRPr>
            </a:pPr>
            <a:r>
              <a:rPr sz="825" b="1">
                <a:solidFill>
                  <a:srgbClr val="8F9BAD"/>
                </a:solidFill>
                <a:latin typeface="Songti SC"/>
                <a:ea typeface="Songti SC"/>
                <a:cs typeface="Songti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0557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2026-05-16T03:42:26.8130000Z</dcterms:created>
  <dcterms:modified xsi:type="dcterms:W3CDTF">2026-05-16T03:42:26.8130000Z</dcterms:modified>
</coreProperties>
</file>