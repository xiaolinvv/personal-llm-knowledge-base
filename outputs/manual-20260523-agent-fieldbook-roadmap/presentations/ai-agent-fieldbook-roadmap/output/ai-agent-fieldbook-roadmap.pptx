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ceab0a88a246c6" /><Relationship Type="http://schemas.openxmlformats.org/officeDocument/2006/relationships/extended-properties" Target="/docProps/app.xml" Id="R424345c66f534143" /><Relationship Type="http://schemas.openxmlformats.org/officeDocument/2006/relationships/officeDocument" Target="/ppt/presentation.xml" Id="Ra66ce49db6b349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78cbe404345bc"/>
  </p:sldMasterIdLst>
  <p:notesMasterIdLst>
    <p:notesMasterId xmlns:r="http://schemas.openxmlformats.org/officeDocument/2006/relationships" r:id="Rc107710930fe4897"/>
  </p:notesMasterIdLst>
  <p:sldIdLst>
    <p:sldId xmlns:r="http://schemas.openxmlformats.org/officeDocument/2006/relationships" id="256" r:id="R9e8ef5622b7d4722"/>
    <p:sldId xmlns:r="http://schemas.openxmlformats.org/officeDocument/2006/relationships" id="257" r:id="R2fe904ed781b40c1"/>
    <p:sldId xmlns:r="http://schemas.openxmlformats.org/officeDocument/2006/relationships" id="258" r:id="Rd8ae02b1b5d74a1b"/>
    <p:sldId xmlns:r="http://schemas.openxmlformats.org/officeDocument/2006/relationships" id="259" r:id="R71bb2824fec14b76"/>
    <p:sldId xmlns:r="http://schemas.openxmlformats.org/officeDocument/2006/relationships" id="260" r:id="R52bddcef8ffa4877"/>
    <p:sldId xmlns:r="http://schemas.openxmlformats.org/officeDocument/2006/relationships" id="261" r:id="R8a16634365bd42ca"/>
    <p:sldId xmlns:r="http://schemas.openxmlformats.org/officeDocument/2006/relationships" id="262" r:id="Ra5c06e281f2a4d48"/>
    <p:sldId xmlns:r="http://schemas.openxmlformats.org/officeDocument/2006/relationships" id="263" r:id="Rb8bc7f6c610b4f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78cbe404345bc" /><Relationship Type="http://schemas.openxmlformats.org/officeDocument/2006/relationships/theme" Target="/ppt/theme/theme1.xml" Id="Rff642d6caf9e4a02" /><Relationship Type="http://schemas.openxmlformats.org/officeDocument/2006/relationships/notesMaster" Target="/ppt/notesMasters/notesMaster1.xml" Id="Rc107710930fe4897" /><Relationship Type="http://schemas.openxmlformats.org/officeDocument/2006/relationships/presProps" Target="/ppt/presProps.xml" Id="R956c47f4cfca4564" /><Relationship Type="http://schemas.openxmlformats.org/officeDocument/2006/relationships/viewProps" Target="/ppt/viewProps.xml" Id="R0e6d8662d03e476c" /><Relationship Type="http://schemas.openxmlformats.org/officeDocument/2006/relationships/tableStyles" Target="/ppt/tableStyles.xml" Id="Redb086f3fafa4532" /><Relationship Type="http://schemas.openxmlformats.org/officeDocument/2006/relationships/slide" Target="/ppt/slides/slide1.xml" Id="R9e8ef5622b7d4722" /><Relationship Type="http://schemas.openxmlformats.org/officeDocument/2006/relationships/slide" Target="/ppt/slides/slide2.xml" Id="R2fe904ed781b40c1" /><Relationship Type="http://schemas.openxmlformats.org/officeDocument/2006/relationships/slide" Target="/ppt/slides/slide3.xml" Id="Rd8ae02b1b5d74a1b" /><Relationship Type="http://schemas.openxmlformats.org/officeDocument/2006/relationships/slide" Target="/ppt/slides/slide4.xml" Id="R71bb2824fec14b76" /><Relationship Type="http://schemas.openxmlformats.org/officeDocument/2006/relationships/slide" Target="/ppt/slides/slide5.xml" Id="R52bddcef8ffa4877" /><Relationship Type="http://schemas.openxmlformats.org/officeDocument/2006/relationships/slide" Target="/ppt/slides/slide6.xml" Id="R8a16634365bd42ca" /><Relationship Type="http://schemas.openxmlformats.org/officeDocument/2006/relationships/slide" Target="/ppt/slides/slide7.xml" Id="Ra5c06e281f2a4d48" /><Relationship Type="http://schemas.openxmlformats.org/officeDocument/2006/relationships/slide" Target="/ppt/slides/slide8.xml" Id="Rb8bc7f6c610b4f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34257db621944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f319bab7a4676" /><Relationship Type="http://schemas.openxmlformats.org/officeDocument/2006/relationships/notesMaster" Target="/ppt/notesMasters/notesMaster1.xml" Id="R82d74acda68148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6552269bf64595" /><Relationship Type="http://schemas.openxmlformats.org/officeDocument/2006/relationships/notesMaster" Target="/ppt/notesMasters/notesMaster1.xml" Id="R1565d6172c40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026d46f21f4027" /><Relationship Type="http://schemas.openxmlformats.org/officeDocument/2006/relationships/notesMaster" Target="/ppt/notesMasters/notesMaster1.xml" Id="Rc97366629cd346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226dfc062a4afb" /><Relationship Type="http://schemas.openxmlformats.org/officeDocument/2006/relationships/notesMaster" Target="/ppt/notesMasters/notesMaster1.xml" Id="R157aa7d3fa5646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d34c86133f4af9" /><Relationship Type="http://schemas.openxmlformats.org/officeDocument/2006/relationships/notesMaster" Target="/ppt/notesMasters/notesMaster1.xml" Id="R292e81694a2542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c4ab5fac674c1d" /><Relationship Type="http://schemas.openxmlformats.org/officeDocument/2006/relationships/notesMaster" Target="/ppt/notesMasters/notesMaster1.xml" Id="R461b78a1b68a40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32629d096d4263" /><Relationship Type="http://schemas.openxmlformats.org/officeDocument/2006/relationships/notesMaster" Target="/ppt/notesMasters/notesMaster1.xml" Id="R81e78101c4ca41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f779c0805e4ecd" /><Relationship Type="http://schemas.openxmlformats.org/officeDocument/2006/relationships/notesMaster" Target="/ppt/notesMasters/notesMaster1.xml" Id="Re44d529a4493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cbad0df8647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0cb0b331a5f49a2" /><Relationship Type="http://schemas.openxmlformats.org/officeDocument/2006/relationships/slideLayout" Target="/ppt/slideLayouts/slideLayout2.xml" Id="R88562089421849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62089421849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4c428112d444c9" /><Relationship Type="http://schemas.openxmlformats.org/officeDocument/2006/relationships/notesSlide" Target="/ppt/notesSlides/notesSlide1.xml" Id="R55b30369695244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ffe67d0b714e2c" /><Relationship Type="http://schemas.openxmlformats.org/officeDocument/2006/relationships/notesSlide" Target="/ppt/notesSlides/notesSlide2.xml" Id="R5857bcb7fd18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0aaed75ccb47ae" /><Relationship Type="http://schemas.openxmlformats.org/officeDocument/2006/relationships/notesSlide" Target="/ppt/notesSlides/notesSlide3.xml" Id="R8b502e74ab0243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ea77268d4548f5" /><Relationship Type="http://schemas.openxmlformats.org/officeDocument/2006/relationships/notesSlide" Target="/ppt/notesSlides/notesSlide4.xml" Id="R10352be474aa44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1160590e241a9" /><Relationship Type="http://schemas.openxmlformats.org/officeDocument/2006/relationships/notesSlide" Target="/ppt/notesSlides/notesSlide5.xml" Id="Rc932fad8e3944f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9a1dbc27a74182" /><Relationship Type="http://schemas.openxmlformats.org/officeDocument/2006/relationships/notesSlide" Target="/ppt/notesSlides/notesSlide6.xml" Id="Rb2152f4c85a4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6e89cce3c541b1" /><Relationship Type="http://schemas.openxmlformats.org/officeDocument/2006/relationships/notesSlide" Target="/ppt/notesSlides/notesSlide7.xml" Id="R1c1b4929ac4445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3f72e87cf744a7" /><Relationship Type="http://schemas.openxmlformats.org/officeDocument/2006/relationships/notesSlide" Target="/ppt/notesSlides/notesSlide8.xml" Id="R2027d64a67b848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86808B-9148-4118-AB50-12430883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9C1DD-117C-44E0-917B-F51A52BC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  <a:p xmlns:a="http://schemas.openxmlformats.org/drawingml/2006/main">
            <a:pPr algn="l">
              <a:defRPr sz="39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150D1-1A6C-4CC6-A844-98F92A74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从官方技术栈、关键能力到最小可运行实验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68D16-EC6C-4A11-B121-BE77CF3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3BF66-D6A8-4F40-B671-4DBA1F92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系统学习 Agent 的目标不是“会用几个框架”，而是掌握构建、评估和约束 Agent 行为的工程能力。</a:t>
            </a:r>
          </a:p>
        </p:txBody>
      </p:sp>
      <p:sp>
        <p:nvSpPr>
          <p:cNvPr id="6" name="anchor-0">
            <a:extLst xmlns:a="http://schemas.openxmlformats.org/drawingml/2006/main">
              <a:ext uri="{FF2B5EF4-FFF2-40B4-BE49-F238E27FC236}">
                <a16:creationId xmlns:a16="http://schemas.microsoft.com/office/drawing/2014/main" id="{0D55CBE0-30E8-4988-BE47-14ED4CE0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39ED5-A215-45D3-93AF-C7F6BDE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91896-1D8B-4DA0-9C73-BEF9448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先官方栈，再比较、场景、源码和小产品</a:t>
            </a:r>
          </a:p>
        </p:txBody>
      </p:sp>
      <p:sp>
        <p:nvSpPr>
          <p:cNvPr id="9" name="anchor-1">
            <a:extLst xmlns:a="http://schemas.openxmlformats.org/drawingml/2006/main">
              <a:ext uri="{FF2B5EF4-FFF2-40B4-BE49-F238E27FC236}">
                <a16:creationId xmlns:a16="http://schemas.microsoft.com/office/drawing/2014/main" id="{2047E630-4FB8-42AD-8339-73AA4F95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3A0C2-F212-4976-AA06-ED38BC16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83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836A"/>
                </a:solidFill>
                <a:latin typeface="PingFang SC"/>
                <a:ea typeface="PingFang SC"/>
                <a:cs typeface="PingFang SC"/>
              </a:rPr>
              <a:t>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E4BFA-7A42-4F61-B289-4ABD0EE0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工具调用、状态、记忆、评估、追踪、人审</a:t>
            </a:r>
          </a:p>
        </p:txBody>
      </p:sp>
      <p:sp>
        <p:nvSpPr>
          <p:cNvPr id="12" name="anchor-2">
            <a:extLst xmlns:a="http://schemas.openxmlformats.org/drawingml/2006/main">
              <a:ext uri="{FF2B5EF4-FFF2-40B4-BE49-F238E27FC236}">
                <a16:creationId xmlns:a16="http://schemas.microsoft.com/office/drawing/2014/main" id="{A45A8D74-A808-4F7F-A619-A568465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3CFAE-AE32-49CC-BAF7-233738E9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292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5C3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35C38"/>
                </a:solidFill>
                <a:latin typeface="PingFang SC"/>
                <a:ea typeface="PingFang SC"/>
                <a:cs typeface="PingFang SC"/>
              </a:rPr>
              <a:t>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C481E-E0EA-4002-B9C6-9EE34C8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72100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用最小 lab 验证判断，不堆概念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0715A-DB94-4DF7-A855-B1C75E6C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9C7FF-1E24-4089-855D-4F9B349A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2534643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EF72464-CE71-4FFC-96D8-496174AC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3E9500-4A82-4E34-8375-08DBF0D3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A5883D-1E53-4408-B3F8-F2A94903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WHY SYSTEMATIC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1EE28-98ED-4071-A4A6-E5F3DCAD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Agent 的难点不在对话，而在带行动的任务执行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8B491-E03C-4643-AB22-F77A5C2F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Chatbot 主要处理语言交互；Agent 要在工具、状态、权限和结果质量之间形成可复盘的闭环。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1BD97-D308-4316-86DE-246FA2A0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普通对话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D426E-F954-41D6-88E7-5A7213A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35C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35C38"/>
                </a:solidFill>
                <a:latin typeface="PingFang SC"/>
                <a:ea typeface="PingFang SC"/>
                <a:cs typeface="PingFang SC"/>
              </a:rPr>
              <a:t>Agent 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EDF52-5898-46C6-A698-8A6D54AD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用户输入</a:t>
            </a:r>
          </a:p>
          <a:p xmlns:a="http://schemas.openxmlformats.org/drawingml/2006/main">
            <a:pPr algn="ctr">
              <a:defRPr sz="172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模型回复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C36FA-832E-4B57-887B-ACEB9E78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C39D1-B820-4ADA-8D4C-D3BAB7A1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DD3AB-E632-4D94-8F48-B8381DDC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495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任务目标 → 工具调用 → 中间状态 → 结果校验 → 风险动作人审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DD90C-530E-4ED4-9D13-D057BFFD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0E8FB-7344-4DE1-9BA4-9D3ADD69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表面问题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AD8E7-FC3D-4F5C-BFCA-8F734AE3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005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让模型答得更好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43BCC-61FB-4C97-AD62-5551E783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让模型在边界内做对事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58B58-658C-4D19-9DAE-4756AF60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20A31-56BA-480B-908B-E4551522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真实难点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E233A-F6B3-4674-9440-2403CF41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33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上下文是否充分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DCB06-B9C8-4897-9AD0-5775E203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工具是否可控、状态是否可恢复、结果是否可评估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7A024-C7DA-4C4F-8161-A3201FD2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DF52EE-5089-452E-8F68-24F2C5E1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学习方式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72B75-6880-4AC0-8817-D77DDC5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读 prompt 和示例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66713-8B44-4896-9477-5E900016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拆能力、做实验、看 trace、复盘失败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1FA74-3016-4418-B1D4-5007F42B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09311-FC5D-4773-9095-80AEE906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2674151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E6C6930-4B99-4F87-8788-CEC059FD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8BCC3A-1EFC-405B-AD2A-AB18BF9E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B7A7E79-665B-4F5B-A900-B5431AB1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836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836A"/>
                </a:solidFill>
                <a:latin typeface="PingFang SC"/>
                <a:ea typeface="PingFang SC"/>
                <a:cs typeface="PingFang SC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F40BD-A728-48F4-AC5C-DFCC0E1F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路线必须按阶段推进，先打基础再拆复杂系统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F3F62-F3F4-4D30-AF7B-4E64AF1A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主线不要跳阶段。临时资料可以沉淀，但深入研究和实验验证要回到这条路线。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798EF-0464-4F44-A16D-BC8B3B5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8669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9EFA5-6E3D-4E50-A6F7-6783D4CE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6C8FE-6736-47AB-BDB6-927183A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OpenAI</a:t>
            </a:r>
          </a:p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官方栈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17B8C-C443-43E2-A46B-DB959038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把单 Agent 执行链路跑通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2E56A-D5DC-4DD8-9B22-F64DBEF1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814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5E65D-4444-4DDF-9007-9CD9AEB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33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ECFEC-58B3-4BDC-81C3-17CBECE5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18669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DEED2-F2DE-4319-83F1-90DCF4EC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836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836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06D6B-5567-4A66-A85C-FB3262B6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Anthropic</a:t>
            </a:r>
          </a:p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/ Claude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CDD5F-C764-4BB6-87B1-FF47E19E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8145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比较上下文、工具和安全边界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72748-19C4-49F3-B8A3-AB476103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814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BEEEB-55E2-4D49-8064-172D5A3E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25149-502F-4CF2-B79A-C3A5CDFA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05100"/>
            <a:ext cx="18669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37740-51B5-4170-9CF6-86AE2862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5C3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35C3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AF81D-4E0A-42CB-B01C-52CD0826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真实应用</a:t>
            </a:r>
          </a:p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378A6-6747-407C-8373-62E4D9EA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8145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看任务、权限、成本和失败恢复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9BB9D-0AB3-4682-8390-66245150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814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EF1D1-C45A-4E37-870B-CB8483B5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33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C770C-A143-41B3-B35A-7BBAB66E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05100"/>
            <a:ext cx="18669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A4E2D-069D-4A1B-8F8C-95D6325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95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B3A7E-2FA5-4759-9D6E-F76EDA51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开源项目</a:t>
            </a:r>
          </a:p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拆解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84C9B-FABA-42D0-A3CC-662F27FF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读数据结构、工具抽象和执行流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BED26F-79A4-4417-82E2-B0A7FC4A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814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FC49DC-F64A-4482-BB0E-CFB43334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33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2E137-6C5B-4CAF-88FD-326EAFF1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18669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D7718-213C-4289-8C97-434F90D9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836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836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742783-1D76-4F90-9080-A72B8E1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575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自己做</a:t>
            </a:r>
          </a:p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小产品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F37B8-5E9D-4D70-8153-D7D62EC5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用最小产品验证可复用方法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23F0E1-DE19-42C5-BC71-4273A530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673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判断标准：每一阶段都要形成笔记、研究判断或实验复盘；资料不能只收藏。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7215AD-DCEC-48E4-8473-3D097E3E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AB10B2-8E31-45B0-A866-B72BF1E7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1336561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BBEFB3D-F617-4716-BF46-FE218A0F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49BCDC-24E1-4D28-8EA0-0F5C5C4F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3A3BFC6-50F6-4809-B90A-809C1D0B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STAGE 1 · OPENAI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8E212-5525-4863-AC9D-E665E406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OpenAI 阶段先把单 Agent 的执行链路打牢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57516-E3D8-41B5-B2A2-7E5FB9A5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47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重点不是 API 怎么调，而是任务如何进入模型、模型如何调用工具、结果如何被追踪和评估。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BD083-445C-48D1-81AD-00486DFB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任务输入</a:t>
            </a:r>
          </a:p>
          <a:p xmlns:a="http://schemas.openxmlformats.org/drawingml/2006/main">
            <a:pPr algn="ctr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明确目标和约束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063CA-5BA6-4852-B78E-830364A6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08A8B-3842-4D4A-B756-EC34FE6F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71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45FAE-2035-4701-BBE7-5423ECE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模型决策</a:t>
            </a:r>
          </a:p>
          <a:p xmlns:a="http://schemas.openxmlformats.org/drawingml/2006/main">
            <a:pPr algn="ctr">
              <a:def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选择下一步行动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E21B8-EBC2-4AC5-8B86-F3C4E2AB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7ADF5-2290-4DF7-BB9C-BA09B7DC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71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1B68A-793B-4660-AECE-85DEFB0B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工具调用</a:t>
            </a:r>
          </a:p>
          <a:p xmlns:a="http://schemas.openxmlformats.org/drawingml/2006/main">
            <a:pPr algn="ctr">
              <a:def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执行外部能力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92B39-17FF-4911-9DA7-8C163847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BBB48-3C6F-46C5-9B3A-03B47A2D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71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C995F-51DC-49A7-B41E-CCADE981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状态更新</a:t>
            </a:r>
          </a:p>
          <a:p xmlns:a="http://schemas.openxmlformats.org/drawingml/2006/main">
            <a:pPr algn="ctr">
              <a:def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保存中间结果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3E389-4F6B-4D54-8213-4B7C0EB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194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8674D-4A03-4771-969F-99BFD46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71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EE51E-BDA9-4D2A-A611-212FC5EF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评估追踪</a:t>
            </a:r>
          </a:p>
          <a:p xmlns:a="http://schemas.openxmlformats.org/drawingml/2006/main">
            <a:pPr algn="ctr">
              <a:def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判断是否完成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8AF7D-C7B4-420D-96FF-BEEF12BB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802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3351B-0857-4575-A0C1-655266D4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481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单 Agent 闭环先跑稳，再讨论复杂编排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99859-4F76-499A-BCEB-132402DB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官方文档优先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ED2E1-618C-47EE-B09E-87C21194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Responses / tools / structured outputs / evals / tracing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27357-B222-497E-83B2-E1A90ADB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实验要小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56404-D7A4-4894-AD20-26881AD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每个实验只验证一个问题，不把所有能力塞进一个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32576-9017-488F-B5CB-699279E0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拒绝过早多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5ED3C-D166-4797-B988-B169E5F2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76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单 Agent 的工具、状态、评估没做好，多 Agent 只会放大混乱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A4149-C37E-44A4-893B-3E7D3B9E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9D0C5-69B6-4B8F-9557-E454E906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2338729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CE8A39-EA25-4174-860A-6E8FE632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D381FB4-AF4A-410E-96A3-0E5D7D24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181C932-87D4-43C8-9311-3D686D6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836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836A"/>
                </a:solidFill>
                <a:latin typeface="PingFang SC"/>
                <a:ea typeface="PingFang SC"/>
                <a:cs typeface="PingFang SC"/>
              </a:rPr>
              <a:t>STAGE 2 · CLAUDE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15ECF-8F79-4FF1-A4D7-5AF16F8E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Claude 阶段的价值是比较架构取舍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47FF2-9DFA-4A46-BC15-611013D2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学习 Claude 不是为了换一个模型崇拜对象，而是看另一套体系如何处理上下文、工具暴露和安全边界。</a:t>
            </a:r>
          </a:p>
        </p:txBody>
      </p:sp>
      <p:sp>
        <p:nvSpPr>
          <p:cNvPr id="6" name="matrix-header">
            <a:extLst xmlns:a="http://schemas.openxmlformats.org/drawingml/2006/main">
              <a:ext uri="{FF2B5EF4-FFF2-40B4-BE49-F238E27FC236}">
                <a16:creationId xmlns:a16="http://schemas.microsoft.com/office/drawing/2014/main" id="{C5FF7379-DC61-40A4-B9B5-7DF1FC9F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42E19-C4DF-4165-BF48-5D62310E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比较维度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B9BD3-42E1-4AE9-ADE0-89548C4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OpenAI 官方栈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16C14-1B06-47F3-B77E-4F4698E1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Anthropic / Claude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86F23-692A-442D-BDD8-88708B6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9A85B-C65C-4FCD-96F1-12A43766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BD4C6-3E84-4B75-9EFB-99B2E43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函数、结构化输出、工具链路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CDB6E-AE6B-4FCB-A1ED-1BC656BC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工具使用、Skills、MCP 生态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78DDC-C4B5-4208-9ED4-8884C142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F860C-C155-4EC6-92D9-19177EA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3DDC1-897E-4F95-BC0D-C6F9901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67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任务状态和执行过程显式建模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7760-56FA-41D4-8F4A-39B4583E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长上下文、项目记忆和工作区能力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DDC55-3CAE-45C3-B074-29B26AB6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A3A7C-A581-405A-80F7-6E0CDA90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75DAC-BD38-471D-81D0-EB992853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958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权限、人审、trace 和 eval 组合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B0E50-BC3C-440E-9318-A75C0FFE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958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工具边界、用户确认和上下文约束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DEF26-FEF7-47A0-8321-31BD6FD7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BDD4B-BB2E-4693-83A6-3873FCDF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学习产出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99019-4FB6-41BA-8D78-F4A23B31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244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单 Agent 最小闭环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D0785-8EFC-4133-AF92-CC91A2AA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244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同任务跨平台对照实验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3B10D-0DB3-43FA-9C3B-285086EA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5270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E4463-19C5-4011-A199-46FC40EA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24197-986A-4FDB-A11A-B4E2E16C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76900"/>
            <a:ext cx="849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结论：比较的是工程边界和架构取舍，不是模型口号。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F277C-F83F-4C4D-B5CB-8588028A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743EB8-DB65-4D05-A9B4-74EBF2D5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7828732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3594E7F-7070-4F4D-83DD-A04B058E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BE3419-2905-43C4-A648-D3266FC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DCCB09B-4266-4CBA-B4D1-2D97010E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5C3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35C38"/>
                </a:solidFill>
                <a:latin typeface="PingFang SC"/>
                <a:ea typeface="PingFang SC"/>
                <a:cs typeface="PingFang SC"/>
              </a:rPr>
              <a:t>STAGE 3-4 · FIELD +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A5EFA-A5DD-409B-95CF-D4E67DD0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真实场景和开源项目负责暴露 demo 看不到的问题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1EC73-1EF9-49BC-AD86-F84E1306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demo 往往只证明“能跑”；真实任务会逼出权限、失败恢复、成本、维护和评估这些硬问题。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78ABB-E2B5-4DF3-8BA9-18213ED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0957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F3028-BB64-411E-9EDB-30645E16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5C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35C38"/>
                </a:solidFill>
                <a:latin typeface="PingFang SC"/>
                <a:ea typeface="PingFang SC"/>
                <a:cs typeface="PingFang SC"/>
              </a:rPr>
              <a:t>真实应用场景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95D0E-E520-453A-A223-2346D79D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客服与工单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261F6-BF50-45D3-B861-F7085F11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研发助手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B960A-CCEE-4EAB-9713-28D3B438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资料整理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DB44B-A410-4096-BD16-BAFC9B68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流程自动化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0C604-051A-455B-81A2-57366DC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数据分析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05D7F-0D7B-40CF-9AC9-C97E45A5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325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看任务边界：谁触发、能调用什么、失败后谁接手。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E9C60-48F0-47CA-9E56-F908ACF1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B3BD8-57B3-4230-8AED-025D6919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81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1A02A-7069-4948-B917-A7A2E930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0957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CDE1B-D0B8-444A-88B5-E51B6FCE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开源项目拆解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E3E12-ED31-4F19-A497-1846A48F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DAC47-B4DB-4E2E-806D-72AA8D08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数据结构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327C3-A9B6-4068-B0E8-2F8A877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81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B505A-9BAE-4D14-B703-21AAC5F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执行流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E3DE1-E0AA-4837-8C80-6BDA1F84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862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04F26-0E71-4469-85A1-0A1200BF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工具抽象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7EAF1-5428-4293-B624-6BEAD864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910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2838A-57CE-47B6-B998-93EC765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状态存储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71A4F-2D4B-4CD9-9137-1C7C6508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958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8FE51-7328-4708-AEAA-4B7BE595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评估方式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A7A8ED-DC1E-473F-B9D5-522AC842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14900"/>
            <a:ext cx="325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读设计取舍：它解决什么问题，代价是什么。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D8B826-92F9-4CF1-9FBD-D658A56A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76900"/>
            <a:ext cx="883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关键纪律：不只收藏链接，要沉淀成判断、反模式和可复用设计。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188677-85F2-4E54-B0BD-3FFAA6F1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DA94B-D3FD-40B2-A682-1F998257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20209394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C57C950-9A52-4148-9D8B-953DA5E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2967BD-D508-427A-813C-15FA027D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E6CAD5-2D61-4B48-B281-83A0329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D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5D7C"/>
                </a:solidFill>
                <a:latin typeface="PingFang SC"/>
                <a:ea typeface="PingFang SC"/>
                <a:cs typeface="PingFang SC"/>
              </a:rPr>
              <a:t>CAPABILITY +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0CE01-9D2A-440E-B2A1-5BDD0191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Agent 是否可用，取决于六项基础能力是否可控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E98F3-79F2-4954-BA1D-81757B83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风险不是外部附属品。工具、状态、记忆、评估、追踪、人审任何一项失控，Agent 都会变成不可复盘的黑盒。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FCA6F-CB4B-400F-ADE4-81477AAF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34B92-7E73-496D-9943-AFDF861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工具调用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E0231-9909-46DC-A166-8707A491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选择、调用、处理结果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B3737-0F00-4C7C-AFD7-9FD46789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D072B-E3A3-4B9C-AAA0-4D616F69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57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状态管理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69F61-15E5-4266-8334-D53864E3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任务进度与中间结果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E6036-AEEE-4977-A2C9-659C6C47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86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DA095-AF44-4545-B1F8-C2F93A35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记忆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A6C65-E3DF-4520-A01F-C1E4E454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623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保存、过期、引用边界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33B28-360C-447F-AFE2-10ED4514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1A191-E372-485A-9BD6-73DE15A3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023BD-C153-47B6-AA6E-3265E396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判断做得对不对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F82C7-7F2D-46EF-9893-B854E2E8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3065A-D992-4B4C-B07E-8BA683C2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00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追踪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520AB-36E5-4372-B4AE-9918D190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053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每一步可复盘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5BF71-4E2E-440B-B769-0B0B1D7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29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6C7F6-539B-418B-8112-72E614DD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人审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1DEDF-9367-425E-8F8E-725E581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高风险动作确认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F321F-2575-4922-AA33-EC90C146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955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5A8EE-9130-4304-A380-BBBD9060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5C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35C38"/>
                </a:solidFill>
                <a:latin typeface="PingFang SC"/>
                <a:ea typeface="PingFang SC"/>
                <a:cs typeface="PingFang SC"/>
              </a:rPr>
              <a:t>主要风险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B1B38-8AD9-4483-906C-9F629F7B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多 Agent 过早复杂化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6C10E-1015-4713-87F0-5C9183E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工具权限失控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1F83D-1516-47D2-AE11-989B956B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只收藏资料不消化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3F238-FA3C-4BD1-9D0B-59D49DF5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没有评估，不知道是否变好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371A8-355C-4C61-9CA0-E93AE26C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控制原则：默认最小权限，关键动作人审，所有实验必须能看 trace 和评估结果。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16C4A6-35C8-4B27-A31C-CE97C47A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FBF0CC-1A29-478F-968E-6F7ABD42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1796F"/>
                </a:solidFill>
                <a:latin typeface="PingFang SC"/>
                <a:ea typeface="PingFang SC"/>
                <a:cs typeface="PingFang SC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760481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1EF335E-2576-4A64-ACDB-0F5623B5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4EDE0B-C6B0-4E94-AD1E-C9021861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21219B3-B1F3-4A51-88E2-18BD191A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NEXT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F5F45-F605-41A3-BF71-2D1468F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下一步不要继续堆资料，先做最小可运行 Agent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7A513-F935-48F4-ADEC-A2CB3210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目标：接收一个明确任务，调用一个工具，保留状态，输出结构化结果，并留下可追踪日志。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41694-025E-4427-B420-A558915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76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13A"/>
          </a:solidFill>
          <a:ln xmlns:a="http://schemas.openxmlformats.org/drawingml/2006/main" w="9525">
            <a:solidFill>
              <a:srgbClr val="4A55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17C9F-46AA-4B90-8578-FE5BCC02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EB1A1-DB99-40BA-9A1F-93FB0355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9D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C9D0"/>
                </a:solidFill>
                <a:latin typeface="PingFang SC"/>
                <a:ea typeface="PingFang SC"/>
                <a:cs typeface="PingFang SC"/>
              </a:rPr>
              <a:t>读取资料并生成结构化摘要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702E8-F1C1-4D5E-8F60-B2556684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52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0D72E-48CC-4704-8071-F75464E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49381-08FE-4B88-9F32-84E92989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076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13A"/>
          </a:solidFill>
          <a:ln xmlns:a="http://schemas.openxmlformats.org/drawingml/2006/main" w="9525">
            <a:solidFill>
              <a:srgbClr val="4A55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D794C-587F-4A64-BC4E-B1160CD5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71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346E8-4CE7-46AA-8B1A-7D9A4AEB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33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9D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C9D0"/>
                </a:solidFill>
                <a:latin typeface="PingFang SC"/>
                <a:ea typeface="PingFang SC"/>
                <a:cs typeface="PingFang SC"/>
              </a:rPr>
              <a:t>本地文件读取或简单搜索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1DB0D-0ED1-409F-AD2B-DB5753D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D44DC-4D46-4CEE-8853-E11AAE47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28FD1-3915-4234-B957-B7D08093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2076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13A"/>
          </a:solidFill>
          <a:ln xmlns:a="http://schemas.openxmlformats.org/drawingml/2006/main" w="9525">
            <a:solidFill>
              <a:srgbClr val="4A55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24AD8-2059-4DC5-BD2D-5ACF8BF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049D7-AFF5-4856-ABFB-4516F065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9D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C9D0"/>
                </a:solidFill>
                <a:latin typeface="PingFang SC"/>
                <a:ea typeface="PingFang SC"/>
                <a:cs typeface="PingFang SC"/>
              </a:rPr>
              <a:t>记录输入、工具结果、最终输出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6ABB9-8568-4981-BEC1-CB6AA0B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E41CF-59C7-40C1-9A6E-07393B96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E5AD4-B42D-4497-A60F-D4D1361B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076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6D089-8846-4149-B1DB-EC55F25C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836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836A"/>
                </a:solidFill>
                <a:latin typeface="PingFang SC"/>
                <a:ea typeface="PingFang SC"/>
                <a:cs typeface="PingFang SC"/>
              </a:rPr>
              <a:t>评估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B3118-F064-4F4C-B1E1-B1F8E7EB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A1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完整性、来源引用、格式约束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72D94-3250-43FF-8DCC-DBD7A54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99496-0FB2-43E8-A3C0-D4D3AB9C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验收标准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12AB9-28AD-4006-91D3-B2A0CBD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32D1C-6869-4866-A371-9CF82AF7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能本地运行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093BE-9F95-4962-AF7E-087A9C2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4CB3C2-630E-45D4-A98E-8C0BB04A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能复现完整执行链路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6791E2-E4E2-46B4-B295-50214AC3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76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19678D-64EA-4935-9670-BC6B7BEA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00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能看到工具调用记录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1D3A7-BC3B-4600-8CA7-EBF0187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F07DB-F2D6-455C-ABF9-75440A6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6E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DE6EA"/>
                </a:solidFill>
                <a:latin typeface="PingFang SC"/>
                <a:ea typeface="PingFang SC"/>
                <a:cs typeface="PingFang SC"/>
              </a:rPr>
              <a:t>能说明失败时如何定位问题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63FDE9-0E61-4A62-A426-9F60D13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Fieldbook 的主线：资料 → 判断 → 实验 → 可复用方法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0FBD38-BE1F-4CB4-94A4-B848B462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2D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D2D8"/>
                </a:solidFill>
                <a:latin typeface="PingFang SC"/>
                <a:ea typeface="PingFang SC"/>
                <a:cs typeface="PingFang SC"/>
              </a:rPr>
              <a:t>AI Agent Fieldbook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D44963-A55D-4C19-A97F-EA36D57B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2D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D2D8"/>
                </a:solidFill>
                <a:latin typeface="PingFang SC"/>
                <a:ea typeface="PingFang SC"/>
                <a:cs typeface="PingFang SC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572304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2026-05-23T14:05:53.5020000Z</dcterms:created>
  <dcterms:modified xsi:type="dcterms:W3CDTF">2026-05-23T14:05:53.5020000Z</dcterms:modified>
</coreProperties>
</file>